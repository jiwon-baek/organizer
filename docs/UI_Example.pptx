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9E9"/>
    <a:srgbClr val="FCEFD0"/>
    <a:srgbClr val="FFDFAF"/>
    <a:srgbClr val="F9D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54" y="226"/>
      </p:cViewPr>
      <p:guideLst>
        <p:guide orient="horz" pos="252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D4753-E1D3-F854-1625-B07D2CAE2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68163C-6431-0EAF-47B2-1FC987DFB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00A716-09EE-9270-DBD1-654275EA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BA712E-40E2-E4BF-7E20-1103246A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0535E3-173E-7928-0633-C4831DDC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9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DEA83-8B9A-A362-0F7A-F12252DB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8BD65-1A90-0908-F2BD-20A3A26B9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B36C2-B3FD-AEBF-ABC1-7EA0112D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C774D-97B4-7D71-A5F9-9CF51163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6111D-C644-C249-A606-DE44939D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8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FFE6C-B3F8-DFB1-A6E1-5F81F1CF3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4F0011-D961-3AE6-FC6F-18CF4813D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69FE68-3DE1-CD04-5EBA-254E4557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9AE5DB-A767-2D49-881F-74CBCC5A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9860C-1126-9E41-EBAD-C8735681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4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085D5-7AAD-1BF9-57AA-749662B3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09D3A-FFB3-65DD-48F5-5EE077BAC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E1CC3A-F41B-39DC-63DC-ED89899B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D5A795-80AB-D1EA-EDE1-6397CBB2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CD2863-4D86-B32E-5150-B842A6B7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F89158-F36E-E491-D882-7DF77250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7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570AC-B052-35D9-0A21-8C07E2A1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15189F-A76F-3384-D7A3-A1E03D8B4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342D93-F14F-9CCD-046B-4B270A289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17FE79-67FD-86D4-46BB-AD091B76A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AF4C27-EEF8-0BC2-45AC-021C8582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2632A8-7C0F-34B1-2375-45E9DDE9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FBD979-6423-B56A-7918-4FB83EA5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1BDAC2-FB58-6479-2326-F1F024EF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2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DE358-A48F-3BBF-17CA-954DBDD2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A8882F-3A5E-BBFE-E130-B954DD57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A58C84-9C5F-221E-25D2-266E5782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CC8DFC-7D1E-786A-4511-5D437672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12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DB79E2-330C-7E91-8665-227EA618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D84546-EBBB-8F49-DE85-9EB38EA3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28D282-40A0-5182-5D46-08329BE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25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89205-C3A0-CF56-7EAB-56F8B937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1F0BA-B025-CCDD-DB4E-9CDCC23B4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ABD185-2875-63F5-3090-CE35D6CEA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DE2343-4AC3-9C98-F6AD-B81AB3C07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02C6A3-885F-51A4-F6BC-4B877B8A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938CC8-CFB5-CE2D-EF79-EC209ECF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38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471AF-CDF9-B308-F850-6235F764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BC9E8B-72A4-2464-3C49-3D153454F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A4D961-A336-EFC0-D6D4-FB7A834E7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87F5F1-5DA0-B52C-FC70-7DDA0284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3F29C-B0E6-E143-349F-D3D94EFB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35E242-8522-203D-9EE0-1780C76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39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CB88C-7A8C-46B6-6AE8-A6A73F94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CAE2D8-9B56-1D7F-A398-BB918CE41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AE4CE1-A23E-CD06-D310-0E793B8A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9B5DC-4BA2-D613-660F-92499730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AB837-C4DF-BE17-CFC8-F4AF5372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05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35E933-381A-A93D-B314-96FB183CC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236018-4859-2706-6A6B-6580303B7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926E2-2F1B-3670-8CE4-86D6ED2A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D7647-4698-1E03-572C-3CCF46B9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60980C-21EF-A77C-24A5-44F40C18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16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BE22D5-6A78-E408-4F14-E851408DD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CE5230-B490-7CB6-ECD5-09D038646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60432-9667-D120-8955-F10EA2A06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0936C-C5E7-491E-8105-75A88DACD573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1CE39D-D143-6AEB-6FAE-0578D0C06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3D002C-59FB-C8FC-B900-9DA59F6D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8E356-FB23-4F8A-9932-9E5935FDA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62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3BE1BC7-C636-19D5-3477-02C53EE44098}"/>
              </a:ext>
            </a:extLst>
          </p:cNvPr>
          <p:cNvSpPr/>
          <p:nvPr/>
        </p:nvSpPr>
        <p:spPr>
          <a:xfrm>
            <a:off x="1765663" y="138897"/>
            <a:ext cx="332377" cy="348783"/>
          </a:xfrm>
          <a:prstGeom prst="roundRect">
            <a:avLst/>
          </a:prstGeom>
          <a:solidFill>
            <a:srgbClr val="FCEF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CC8CB11-4845-A7C4-11DB-1A84CCEDCDA8}"/>
              </a:ext>
            </a:extLst>
          </p:cNvPr>
          <p:cNvSpPr/>
          <p:nvPr/>
        </p:nvSpPr>
        <p:spPr>
          <a:xfrm>
            <a:off x="0" y="0"/>
            <a:ext cx="1910443" cy="6858000"/>
          </a:xfrm>
          <a:custGeom>
            <a:avLst/>
            <a:gdLst>
              <a:gd name="csX0" fmla="*/ 0 w 1910443"/>
              <a:gd name="csY0" fmla="*/ 0 h 6858000"/>
              <a:gd name="csX1" fmla="*/ 337465 w 1910443"/>
              <a:gd name="csY1" fmla="*/ 0 h 6858000"/>
              <a:gd name="csX2" fmla="*/ 718457 w 1910443"/>
              <a:gd name="csY2" fmla="*/ 0 h 6858000"/>
              <a:gd name="csX3" fmla="*/ 1817907 w 1910443"/>
              <a:gd name="csY3" fmla="*/ 0 h 6858000"/>
              <a:gd name="csX4" fmla="*/ 1910443 w 1910443"/>
              <a:gd name="csY4" fmla="*/ 92536 h 6858000"/>
              <a:gd name="csX5" fmla="*/ 1910443 w 1910443"/>
              <a:gd name="csY5" fmla="*/ 6765464 h 6858000"/>
              <a:gd name="csX6" fmla="*/ 1817907 w 1910443"/>
              <a:gd name="csY6" fmla="*/ 6858000 h 6858000"/>
              <a:gd name="csX7" fmla="*/ 718457 w 1910443"/>
              <a:gd name="csY7" fmla="*/ 6858000 h 6858000"/>
              <a:gd name="csX8" fmla="*/ 337465 w 1910443"/>
              <a:gd name="csY8" fmla="*/ 6858000 h 6858000"/>
              <a:gd name="csX9" fmla="*/ 0 w 1910443"/>
              <a:gd name="csY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10443" h="6858000">
                <a:moveTo>
                  <a:pt x="0" y="0"/>
                </a:moveTo>
                <a:lnTo>
                  <a:pt x="337465" y="0"/>
                </a:lnTo>
                <a:lnTo>
                  <a:pt x="718457" y="0"/>
                </a:lnTo>
                <a:lnTo>
                  <a:pt x="1817907" y="0"/>
                </a:lnTo>
                <a:cubicBezTo>
                  <a:pt x="1869013" y="0"/>
                  <a:pt x="1910443" y="41430"/>
                  <a:pt x="1910443" y="92536"/>
                </a:cubicBezTo>
                <a:lnTo>
                  <a:pt x="1910443" y="6765464"/>
                </a:lnTo>
                <a:cubicBezTo>
                  <a:pt x="1910443" y="6816570"/>
                  <a:pt x="1869013" y="6858000"/>
                  <a:pt x="1817907" y="6858000"/>
                </a:cubicBezTo>
                <a:lnTo>
                  <a:pt x="718457" y="6858000"/>
                </a:lnTo>
                <a:lnTo>
                  <a:pt x="3374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EF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D7B54-123A-4986-5E21-FE6855B6E02F}"/>
              </a:ext>
            </a:extLst>
          </p:cNvPr>
          <p:cNvSpPr txBox="1"/>
          <p:nvPr/>
        </p:nvSpPr>
        <p:spPr>
          <a:xfrm>
            <a:off x="0" y="13889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새 노트북 추가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4674BE-49BC-BD3B-80C7-1BBC719DC756}"/>
              </a:ext>
            </a:extLst>
          </p:cNvPr>
          <p:cNvCxnSpPr/>
          <p:nvPr/>
        </p:nvCxnSpPr>
        <p:spPr>
          <a:xfrm>
            <a:off x="0" y="625033"/>
            <a:ext cx="17331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D76474-2633-15A7-050F-F1DFAE3F73F2}"/>
              </a:ext>
            </a:extLst>
          </p:cNvPr>
          <p:cNvSpPr txBox="1"/>
          <p:nvPr/>
        </p:nvSpPr>
        <p:spPr>
          <a:xfrm>
            <a:off x="0" y="1133262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최근 파일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5C142-6B44-DAB6-960F-AC92ABD1298F}"/>
              </a:ext>
            </a:extLst>
          </p:cNvPr>
          <p:cNvSpPr txBox="1"/>
          <p:nvPr/>
        </p:nvSpPr>
        <p:spPr>
          <a:xfrm>
            <a:off x="0" y="1488142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수업자료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046751-48F2-68CA-B686-8197BDC9F878}"/>
              </a:ext>
            </a:extLst>
          </p:cNvPr>
          <p:cNvSpPr txBox="1"/>
          <p:nvPr/>
        </p:nvSpPr>
        <p:spPr>
          <a:xfrm>
            <a:off x="320040" y="1843022"/>
            <a:ext cx="1353256" cy="3077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└ 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2025</a:t>
            </a:r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공학수학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822C7-155A-3352-EFAA-7A3F38B088B0}"/>
              </a:ext>
            </a:extLst>
          </p:cNvPr>
          <p:cNvSpPr txBox="1"/>
          <p:nvPr/>
        </p:nvSpPr>
        <p:spPr>
          <a:xfrm>
            <a:off x="320040" y="2197902"/>
            <a:ext cx="13131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2026</a:t>
            </a:r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생산공학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D91E36-194B-E3D2-0D49-DB1F4C904A60}"/>
              </a:ext>
            </a:extLst>
          </p:cNvPr>
          <p:cNvSpPr txBox="1"/>
          <p:nvPr/>
        </p:nvSpPr>
        <p:spPr>
          <a:xfrm>
            <a:off x="0" y="2552782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논문리뷰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0DE2B8-B635-CCFB-6B73-2B85E7B3A78E}"/>
              </a:ext>
            </a:extLst>
          </p:cNvPr>
          <p:cNvSpPr txBox="1"/>
          <p:nvPr/>
        </p:nvSpPr>
        <p:spPr>
          <a:xfrm>
            <a:off x="320040" y="2907662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2024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C0708-847B-0DA8-5519-1DA275A3ECE7}"/>
              </a:ext>
            </a:extLst>
          </p:cNvPr>
          <p:cNvSpPr txBox="1"/>
          <p:nvPr/>
        </p:nvSpPr>
        <p:spPr>
          <a:xfrm>
            <a:off x="320040" y="326254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2025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AA0E2D-1FA0-2CAF-26D6-47B386183404}"/>
              </a:ext>
            </a:extLst>
          </p:cNvPr>
          <p:cNvSpPr txBox="1"/>
          <p:nvPr/>
        </p:nvSpPr>
        <p:spPr>
          <a:xfrm>
            <a:off x="320040" y="361742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2026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7A655A-51B3-813B-0DA8-1B2E24AC2ED4}"/>
              </a:ext>
            </a:extLst>
          </p:cNvPr>
          <p:cNvSpPr txBox="1"/>
          <p:nvPr/>
        </p:nvSpPr>
        <p:spPr>
          <a:xfrm>
            <a:off x="0" y="3972302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상담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D571F0-C184-CB75-C02F-D46D72236E9B}"/>
              </a:ext>
            </a:extLst>
          </p:cNvPr>
          <p:cNvSpPr txBox="1"/>
          <p:nvPr/>
        </p:nvSpPr>
        <p:spPr>
          <a:xfrm>
            <a:off x="320040" y="432718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2025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786E83-2E16-B380-F68B-7500C266D57E}"/>
              </a:ext>
            </a:extLst>
          </p:cNvPr>
          <p:cNvSpPr txBox="1"/>
          <p:nvPr/>
        </p:nvSpPr>
        <p:spPr>
          <a:xfrm>
            <a:off x="0" y="4682062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행정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C43034-FF64-BDD8-3976-31B70ED044D1}"/>
              </a:ext>
            </a:extLst>
          </p:cNvPr>
          <p:cNvSpPr txBox="1"/>
          <p:nvPr/>
        </p:nvSpPr>
        <p:spPr>
          <a:xfrm>
            <a:off x="320040" y="5036942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학부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DA4A2B-2FA6-85EB-65DD-1FE2EA2DEE81}"/>
              </a:ext>
            </a:extLst>
          </p:cNvPr>
          <p:cNvSpPr txBox="1"/>
          <p:nvPr/>
        </p:nvSpPr>
        <p:spPr>
          <a:xfrm>
            <a:off x="320040" y="5391822"/>
            <a:ext cx="795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대학원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0A1AF-140C-C267-81EA-D056A313A105}"/>
              </a:ext>
            </a:extLst>
          </p:cNvPr>
          <p:cNvSpPr txBox="1"/>
          <p:nvPr/>
        </p:nvSpPr>
        <p:spPr>
          <a:xfrm>
            <a:off x="320040" y="5746703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학회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857EA5-2BEB-92EB-AB93-C2D2C5BF9013}"/>
              </a:ext>
            </a:extLst>
          </p:cNvPr>
          <p:cNvSpPr txBox="1"/>
          <p:nvPr/>
        </p:nvSpPr>
        <p:spPr>
          <a:xfrm>
            <a:off x="2388574" y="138897"/>
            <a:ext cx="209544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프리젠테이션 7 Bold" pitchFamily="2" charset="-127"/>
                <a:ea typeface="프리젠테이션 7 Bold" pitchFamily="2" charset="-127"/>
              </a:rPr>
              <a:t>2025</a:t>
            </a:r>
            <a:r>
              <a:rPr lang="ko-KR" altLang="en-US" sz="2800" dirty="0">
                <a:latin typeface="프리젠테이션 7 Bold" pitchFamily="2" charset="-127"/>
                <a:ea typeface="프리젠테이션 7 Bold" pitchFamily="2" charset="-127"/>
              </a:rPr>
              <a:t>공학수학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53FE48-EEB9-61EA-E994-CC650652701F}"/>
              </a:ext>
            </a:extLst>
          </p:cNvPr>
          <p:cNvSpPr txBox="1"/>
          <p:nvPr/>
        </p:nvSpPr>
        <p:spPr>
          <a:xfrm>
            <a:off x="1826260" y="1183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A877D9D-1D2C-CA26-FBFA-FC3BE108EA82}"/>
              </a:ext>
            </a:extLst>
          </p:cNvPr>
          <p:cNvCxnSpPr/>
          <p:nvPr/>
        </p:nvCxnSpPr>
        <p:spPr>
          <a:xfrm>
            <a:off x="2445657" y="1023257"/>
            <a:ext cx="91149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269C2AE-B7A3-99B9-39D1-307BC2902D61}"/>
              </a:ext>
            </a:extLst>
          </p:cNvPr>
          <p:cNvCxnSpPr/>
          <p:nvPr/>
        </p:nvCxnSpPr>
        <p:spPr>
          <a:xfrm>
            <a:off x="2445657" y="1316178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6B79388-C3A8-3509-C964-13210EC27763}"/>
              </a:ext>
            </a:extLst>
          </p:cNvPr>
          <p:cNvCxnSpPr/>
          <p:nvPr/>
        </p:nvCxnSpPr>
        <p:spPr>
          <a:xfrm>
            <a:off x="2445657" y="1609099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FBDC0D4-F5A9-6A96-352B-6CBB2D8A36EA}"/>
              </a:ext>
            </a:extLst>
          </p:cNvPr>
          <p:cNvCxnSpPr/>
          <p:nvPr/>
        </p:nvCxnSpPr>
        <p:spPr>
          <a:xfrm>
            <a:off x="2445657" y="1902020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CD8826B-7230-DCDB-E72E-5EC7F8642D1B}"/>
              </a:ext>
            </a:extLst>
          </p:cNvPr>
          <p:cNvCxnSpPr/>
          <p:nvPr/>
        </p:nvCxnSpPr>
        <p:spPr>
          <a:xfrm>
            <a:off x="2445657" y="2194941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A88D7DB-B622-8B88-50C0-27787F11C6FD}"/>
              </a:ext>
            </a:extLst>
          </p:cNvPr>
          <p:cNvCxnSpPr/>
          <p:nvPr/>
        </p:nvCxnSpPr>
        <p:spPr>
          <a:xfrm>
            <a:off x="2445657" y="2487862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D88F9AC-2FFA-D802-401E-D9303C337354}"/>
              </a:ext>
            </a:extLst>
          </p:cNvPr>
          <p:cNvCxnSpPr/>
          <p:nvPr/>
        </p:nvCxnSpPr>
        <p:spPr>
          <a:xfrm>
            <a:off x="2445657" y="2780783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6BEBD01-1295-65DD-5726-E524CEC88C68}"/>
              </a:ext>
            </a:extLst>
          </p:cNvPr>
          <p:cNvCxnSpPr/>
          <p:nvPr/>
        </p:nvCxnSpPr>
        <p:spPr>
          <a:xfrm>
            <a:off x="2445657" y="3073704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B29424F-11F0-67B9-A82D-B6F235A9E501}"/>
              </a:ext>
            </a:extLst>
          </p:cNvPr>
          <p:cNvCxnSpPr/>
          <p:nvPr/>
        </p:nvCxnSpPr>
        <p:spPr>
          <a:xfrm>
            <a:off x="2445657" y="3366625"/>
            <a:ext cx="911497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DA8F3B9-B304-E182-186E-9D70FB2EDB08}"/>
              </a:ext>
            </a:extLst>
          </p:cNvPr>
          <p:cNvCxnSpPr/>
          <p:nvPr/>
        </p:nvCxnSpPr>
        <p:spPr>
          <a:xfrm>
            <a:off x="2445657" y="3659546"/>
            <a:ext cx="91149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3242602-37D7-F30C-1CAE-2896C528AC3F}"/>
              </a:ext>
            </a:extLst>
          </p:cNvPr>
          <p:cNvSpPr txBox="1"/>
          <p:nvPr/>
        </p:nvSpPr>
        <p:spPr>
          <a:xfrm>
            <a:off x="2825530" y="1039179"/>
            <a:ext cx="816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Week1_a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8AA534-E222-4367-05E8-0AED70133BB9}"/>
              </a:ext>
            </a:extLst>
          </p:cNvPr>
          <p:cNvSpPr txBox="1"/>
          <p:nvPr/>
        </p:nvSpPr>
        <p:spPr>
          <a:xfrm>
            <a:off x="2825530" y="1332304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Week1_b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B3B972-D325-E3B1-CD49-BEE010AEA0ED}"/>
              </a:ext>
            </a:extLst>
          </p:cNvPr>
          <p:cNvSpPr txBox="1"/>
          <p:nvPr/>
        </p:nvSpPr>
        <p:spPr>
          <a:xfrm>
            <a:off x="2825530" y="1625429"/>
            <a:ext cx="816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Week2_a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DED1A2-17E1-FB77-4291-A86EE9407AF9}"/>
              </a:ext>
            </a:extLst>
          </p:cNvPr>
          <p:cNvSpPr txBox="1"/>
          <p:nvPr/>
        </p:nvSpPr>
        <p:spPr>
          <a:xfrm>
            <a:off x="2825530" y="1918554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Week2_b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38CBEE-21A3-2D91-0986-337B584072B7}"/>
              </a:ext>
            </a:extLst>
          </p:cNvPr>
          <p:cNvSpPr txBox="1"/>
          <p:nvPr/>
        </p:nvSpPr>
        <p:spPr>
          <a:xfrm>
            <a:off x="2825530" y="2211679"/>
            <a:ext cx="816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Week3_a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9C825D-AA10-1082-9616-F82822CE9253}"/>
              </a:ext>
            </a:extLst>
          </p:cNvPr>
          <p:cNvSpPr txBox="1"/>
          <p:nvPr/>
        </p:nvSpPr>
        <p:spPr>
          <a:xfrm>
            <a:off x="2825530" y="2504804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Week3_b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3EE6CE-03FF-C6A7-FACD-8DADE2A4786E}"/>
              </a:ext>
            </a:extLst>
          </p:cNvPr>
          <p:cNvSpPr txBox="1"/>
          <p:nvPr/>
        </p:nvSpPr>
        <p:spPr>
          <a:xfrm>
            <a:off x="2825530" y="2797929"/>
            <a:ext cx="816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Week4_a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FA640B-2549-052D-AFDC-D2802AED658D}"/>
              </a:ext>
            </a:extLst>
          </p:cNvPr>
          <p:cNvSpPr txBox="1"/>
          <p:nvPr/>
        </p:nvSpPr>
        <p:spPr>
          <a:xfrm>
            <a:off x="2825530" y="3091054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Week4_b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2E701F-15AF-636E-D1F1-145634BBFAB8}"/>
              </a:ext>
            </a:extLst>
          </p:cNvPr>
          <p:cNvSpPr txBox="1"/>
          <p:nvPr/>
        </p:nvSpPr>
        <p:spPr>
          <a:xfrm>
            <a:off x="2825530" y="3384180"/>
            <a:ext cx="816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Week5_a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51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2A41-9767-5B7C-86EB-9FAD9771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B447313F-438A-1705-1FCA-C15CEA30C3B8}"/>
              </a:ext>
            </a:extLst>
          </p:cNvPr>
          <p:cNvSpPr/>
          <p:nvPr/>
        </p:nvSpPr>
        <p:spPr>
          <a:xfrm>
            <a:off x="2388574" y="1973943"/>
            <a:ext cx="9452906" cy="4412343"/>
          </a:xfrm>
          <a:prstGeom prst="rect">
            <a:avLst/>
          </a:prstGeom>
          <a:solidFill>
            <a:schemeClr val="bg1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ko-KR" altLang="en-US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BBF8704-2835-648B-5FDD-C4737E268A65}"/>
              </a:ext>
            </a:extLst>
          </p:cNvPr>
          <p:cNvSpPr/>
          <p:nvPr/>
        </p:nvSpPr>
        <p:spPr>
          <a:xfrm>
            <a:off x="1765663" y="138897"/>
            <a:ext cx="332377" cy="348783"/>
          </a:xfrm>
          <a:prstGeom prst="roundRect">
            <a:avLst/>
          </a:prstGeom>
          <a:solidFill>
            <a:srgbClr val="FCEFD0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DE32F36-2E37-8AE0-54EF-E2F870BBF7DB}"/>
              </a:ext>
            </a:extLst>
          </p:cNvPr>
          <p:cNvSpPr/>
          <p:nvPr/>
        </p:nvSpPr>
        <p:spPr>
          <a:xfrm>
            <a:off x="0" y="0"/>
            <a:ext cx="1910443" cy="6858000"/>
          </a:xfrm>
          <a:custGeom>
            <a:avLst/>
            <a:gdLst>
              <a:gd name="csX0" fmla="*/ 0 w 1910443"/>
              <a:gd name="csY0" fmla="*/ 0 h 6858000"/>
              <a:gd name="csX1" fmla="*/ 337465 w 1910443"/>
              <a:gd name="csY1" fmla="*/ 0 h 6858000"/>
              <a:gd name="csX2" fmla="*/ 718457 w 1910443"/>
              <a:gd name="csY2" fmla="*/ 0 h 6858000"/>
              <a:gd name="csX3" fmla="*/ 1817907 w 1910443"/>
              <a:gd name="csY3" fmla="*/ 0 h 6858000"/>
              <a:gd name="csX4" fmla="*/ 1910443 w 1910443"/>
              <a:gd name="csY4" fmla="*/ 92536 h 6858000"/>
              <a:gd name="csX5" fmla="*/ 1910443 w 1910443"/>
              <a:gd name="csY5" fmla="*/ 6765464 h 6858000"/>
              <a:gd name="csX6" fmla="*/ 1817907 w 1910443"/>
              <a:gd name="csY6" fmla="*/ 6858000 h 6858000"/>
              <a:gd name="csX7" fmla="*/ 718457 w 1910443"/>
              <a:gd name="csY7" fmla="*/ 6858000 h 6858000"/>
              <a:gd name="csX8" fmla="*/ 337465 w 1910443"/>
              <a:gd name="csY8" fmla="*/ 6858000 h 6858000"/>
              <a:gd name="csX9" fmla="*/ 0 w 1910443"/>
              <a:gd name="csY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10443" h="6858000">
                <a:moveTo>
                  <a:pt x="0" y="0"/>
                </a:moveTo>
                <a:lnTo>
                  <a:pt x="337465" y="0"/>
                </a:lnTo>
                <a:lnTo>
                  <a:pt x="718457" y="0"/>
                </a:lnTo>
                <a:lnTo>
                  <a:pt x="1817907" y="0"/>
                </a:lnTo>
                <a:cubicBezTo>
                  <a:pt x="1869013" y="0"/>
                  <a:pt x="1910443" y="41430"/>
                  <a:pt x="1910443" y="92536"/>
                </a:cubicBezTo>
                <a:lnTo>
                  <a:pt x="1910443" y="6765464"/>
                </a:lnTo>
                <a:cubicBezTo>
                  <a:pt x="1910443" y="6816570"/>
                  <a:pt x="1869013" y="6858000"/>
                  <a:pt x="1817907" y="6858000"/>
                </a:cubicBezTo>
                <a:lnTo>
                  <a:pt x="718457" y="6858000"/>
                </a:lnTo>
                <a:lnTo>
                  <a:pt x="3374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CEFD0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3A59C-87B3-6A0A-EB80-4A7353721CDA}"/>
              </a:ext>
            </a:extLst>
          </p:cNvPr>
          <p:cNvSpPr txBox="1"/>
          <p:nvPr/>
        </p:nvSpPr>
        <p:spPr>
          <a:xfrm>
            <a:off x="0" y="13889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새 노트북 추가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B26884F-17E9-22B9-CBB0-6654A6AE905B}"/>
              </a:ext>
            </a:extLst>
          </p:cNvPr>
          <p:cNvCxnSpPr/>
          <p:nvPr/>
        </p:nvCxnSpPr>
        <p:spPr>
          <a:xfrm>
            <a:off x="0" y="625033"/>
            <a:ext cx="17331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F549B5-38C1-5586-C182-F66451D9951C}"/>
              </a:ext>
            </a:extLst>
          </p:cNvPr>
          <p:cNvSpPr txBox="1"/>
          <p:nvPr/>
        </p:nvSpPr>
        <p:spPr>
          <a:xfrm>
            <a:off x="0" y="662117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최근 파일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AE22A-38F3-7BC8-E707-3B4161CF561B}"/>
              </a:ext>
            </a:extLst>
          </p:cNvPr>
          <p:cNvSpPr txBox="1"/>
          <p:nvPr/>
        </p:nvSpPr>
        <p:spPr>
          <a:xfrm>
            <a:off x="0" y="1488142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수업자료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A7006-D3F8-D1B9-03D8-B9A987E7CFCE}"/>
              </a:ext>
            </a:extLst>
          </p:cNvPr>
          <p:cNvSpPr txBox="1"/>
          <p:nvPr/>
        </p:nvSpPr>
        <p:spPr>
          <a:xfrm>
            <a:off x="320040" y="1843022"/>
            <a:ext cx="1353256" cy="3077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└ 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2025</a:t>
            </a:r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공학수학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D0741-EA86-4413-FCD8-D955E822F6D5}"/>
              </a:ext>
            </a:extLst>
          </p:cNvPr>
          <p:cNvSpPr txBox="1"/>
          <p:nvPr/>
        </p:nvSpPr>
        <p:spPr>
          <a:xfrm>
            <a:off x="320040" y="2197902"/>
            <a:ext cx="13131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2026</a:t>
            </a:r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생산공학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2AA285-7D8D-96F0-3313-93162B56A9F3}"/>
              </a:ext>
            </a:extLst>
          </p:cNvPr>
          <p:cNvSpPr txBox="1"/>
          <p:nvPr/>
        </p:nvSpPr>
        <p:spPr>
          <a:xfrm>
            <a:off x="0" y="2552782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논문리뷰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C7B76-FA5E-E153-A5DD-E0323DA4C315}"/>
              </a:ext>
            </a:extLst>
          </p:cNvPr>
          <p:cNvSpPr txBox="1"/>
          <p:nvPr/>
        </p:nvSpPr>
        <p:spPr>
          <a:xfrm>
            <a:off x="320040" y="2907662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2024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B86A3-7266-722C-6CF5-5E14B8D26654}"/>
              </a:ext>
            </a:extLst>
          </p:cNvPr>
          <p:cNvSpPr txBox="1"/>
          <p:nvPr/>
        </p:nvSpPr>
        <p:spPr>
          <a:xfrm>
            <a:off x="320040" y="326254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2025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B6E77-3BE0-B5BF-AFE0-8E46D48AFDDB}"/>
              </a:ext>
            </a:extLst>
          </p:cNvPr>
          <p:cNvSpPr txBox="1"/>
          <p:nvPr/>
        </p:nvSpPr>
        <p:spPr>
          <a:xfrm>
            <a:off x="320040" y="361742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2026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CC59FD-61B7-7722-6774-0D48865FA6A6}"/>
              </a:ext>
            </a:extLst>
          </p:cNvPr>
          <p:cNvSpPr txBox="1"/>
          <p:nvPr/>
        </p:nvSpPr>
        <p:spPr>
          <a:xfrm>
            <a:off x="0" y="3972302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상담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23E63D-B533-FBEF-51E7-4358D757AE9D}"/>
              </a:ext>
            </a:extLst>
          </p:cNvPr>
          <p:cNvSpPr txBox="1"/>
          <p:nvPr/>
        </p:nvSpPr>
        <p:spPr>
          <a:xfrm>
            <a:off x="320040" y="432718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</a:t>
            </a:r>
            <a:r>
              <a:rPr lang="en-US" altLang="ko-KR" sz="1400" dirty="0">
                <a:latin typeface="프리젠테이션 3 Light" pitchFamily="2" charset="-127"/>
                <a:ea typeface="프리젠테이션 3 Light" pitchFamily="2" charset="-127"/>
              </a:rPr>
              <a:t>2025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2C5614-DEC5-F5A5-F17D-E1D9B7AB0CFF}"/>
              </a:ext>
            </a:extLst>
          </p:cNvPr>
          <p:cNvSpPr txBox="1"/>
          <p:nvPr/>
        </p:nvSpPr>
        <p:spPr>
          <a:xfrm>
            <a:off x="0" y="4682062"/>
            <a:ext cx="450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행정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1011AF-B7A5-BEE7-24FB-172D630E9973}"/>
              </a:ext>
            </a:extLst>
          </p:cNvPr>
          <p:cNvSpPr txBox="1"/>
          <p:nvPr/>
        </p:nvSpPr>
        <p:spPr>
          <a:xfrm>
            <a:off x="320040" y="5036942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학부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C079D-FA32-3B4E-42F4-5E34E5771D68}"/>
              </a:ext>
            </a:extLst>
          </p:cNvPr>
          <p:cNvSpPr txBox="1"/>
          <p:nvPr/>
        </p:nvSpPr>
        <p:spPr>
          <a:xfrm>
            <a:off x="320040" y="5391822"/>
            <a:ext cx="795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대학원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877254-AD8B-087D-36AC-C425298D4617}"/>
              </a:ext>
            </a:extLst>
          </p:cNvPr>
          <p:cNvSpPr txBox="1"/>
          <p:nvPr/>
        </p:nvSpPr>
        <p:spPr>
          <a:xfrm>
            <a:off x="320040" y="5746703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프리젠테이션 3 Light" pitchFamily="2" charset="-127"/>
                <a:ea typeface="프리젠테이션 3 Light" pitchFamily="2" charset="-127"/>
              </a:rPr>
              <a:t>└ 학회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3D0C4-62A5-7F26-9C39-30A325843582}"/>
              </a:ext>
            </a:extLst>
          </p:cNvPr>
          <p:cNvSpPr txBox="1"/>
          <p:nvPr/>
        </p:nvSpPr>
        <p:spPr>
          <a:xfrm>
            <a:off x="2388574" y="138897"/>
            <a:ext cx="274152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2025</a:t>
            </a:r>
            <a:r>
              <a:rPr lang="ko-KR" altLang="en-US" sz="1400" dirty="0">
                <a:solidFill>
                  <a:schemeClr val="bg2">
                    <a:lumMod val="9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공학수학</a:t>
            </a:r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/</a:t>
            </a:r>
            <a:r>
              <a:rPr lang="en-US" altLang="ko-KR" sz="2800" dirty="0">
                <a:latin typeface="프리젠테이션 7 Bold" pitchFamily="2" charset="-127"/>
                <a:ea typeface="프리젠테이션 7 Bold" pitchFamily="2" charset="-127"/>
              </a:rPr>
              <a:t>Week1_a</a:t>
            </a:r>
            <a:endParaRPr lang="ko-KR" altLang="en-US" sz="28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8703A-A0F1-5A91-8727-AAFB4E143CBE}"/>
              </a:ext>
            </a:extLst>
          </p:cNvPr>
          <p:cNvSpPr txBox="1"/>
          <p:nvPr/>
        </p:nvSpPr>
        <p:spPr>
          <a:xfrm>
            <a:off x="1826260" y="1183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612B947-3402-4942-9AEB-BF32B28D3064}"/>
              </a:ext>
            </a:extLst>
          </p:cNvPr>
          <p:cNvSpPr/>
          <p:nvPr/>
        </p:nvSpPr>
        <p:spPr>
          <a:xfrm>
            <a:off x="2388574" y="876301"/>
            <a:ext cx="9452906" cy="381000"/>
          </a:xfrm>
          <a:prstGeom prst="roundRect">
            <a:avLst>
              <a:gd name="adj" fmla="val 18270"/>
            </a:avLst>
          </a:prstGeom>
          <a:solidFill>
            <a:srgbClr val="FCEFD0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프리젠테이션 3 Light" pitchFamily="2" charset="-127"/>
                <a:ea typeface="프리젠테이션 3 Light" pitchFamily="2" charset="-127"/>
              </a:rPr>
              <a:t>PDF_1.pdf</a:t>
            </a:r>
            <a:endParaRPr lang="ko-KR" altLang="en-US" dirty="0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3E83C-C417-8509-FEE1-F74096BA593F}"/>
              </a:ext>
            </a:extLst>
          </p:cNvPr>
          <p:cNvSpPr txBox="1"/>
          <p:nvPr/>
        </p:nvSpPr>
        <p:spPr>
          <a:xfrm>
            <a:off x="10751245" y="928301"/>
            <a:ext cx="1090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>
                <a:solidFill>
                  <a:sysClr val="windowText" lastClr="000000"/>
                </a:solidFill>
                <a:latin typeface="프리젠테이션 3 Light" pitchFamily="2" charset="-127"/>
                <a:ea typeface="프리젠테이션 3 Light" pitchFamily="2" charset="-127"/>
              </a:rPr>
              <a:t>16 comments</a:t>
            </a:r>
            <a:endParaRPr lang="ko-KR" altLang="en-US" sz="1200" dirty="0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4F5E555-60D7-A68B-51BA-C4D142A05169}"/>
              </a:ext>
            </a:extLst>
          </p:cNvPr>
          <p:cNvSpPr/>
          <p:nvPr/>
        </p:nvSpPr>
        <p:spPr>
          <a:xfrm>
            <a:off x="2388574" y="1309301"/>
            <a:ext cx="9452906" cy="381000"/>
          </a:xfrm>
          <a:prstGeom prst="roundRect">
            <a:avLst>
              <a:gd name="adj" fmla="val 18270"/>
            </a:avLst>
          </a:prstGeom>
          <a:solidFill>
            <a:srgbClr val="FCEFD0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프리젠테이션 3 Light" pitchFamily="2" charset="-127"/>
                <a:ea typeface="프리젠테이션 3 Light" pitchFamily="2" charset="-127"/>
              </a:rPr>
              <a:t>PDF_2.pdf</a:t>
            </a:r>
            <a:endParaRPr lang="ko-KR" altLang="en-US" dirty="0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8F1A7-F9D7-EDB4-2CA7-FFFE7994190C}"/>
              </a:ext>
            </a:extLst>
          </p:cNvPr>
          <p:cNvSpPr txBox="1"/>
          <p:nvPr/>
        </p:nvSpPr>
        <p:spPr>
          <a:xfrm>
            <a:off x="10834601" y="1361301"/>
            <a:ext cx="1006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>
                <a:solidFill>
                  <a:sysClr val="windowText" lastClr="000000"/>
                </a:solidFill>
                <a:latin typeface="프리젠테이션 3 Light" pitchFamily="2" charset="-127"/>
                <a:ea typeface="프리젠테이션 3 Light" pitchFamily="2" charset="-127"/>
              </a:rPr>
              <a:t>4 comments</a:t>
            </a:r>
            <a:endParaRPr lang="ko-KR" altLang="en-US" sz="1200" dirty="0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8DC348-5FE5-C341-AAD4-80F7991558B7}"/>
              </a:ext>
            </a:extLst>
          </p:cNvPr>
          <p:cNvSpPr/>
          <p:nvPr/>
        </p:nvSpPr>
        <p:spPr>
          <a:xfrm>
            <a:off x="2388574" y="1742301"/>
            <a:ext cx="9452906" cy="381000"/>
          </a:xfrm>
          <a:prstGeom prst="roundRect">
            <a:avLst>
              <a:gd name="adj" fmla="val 18270"/>
            </a:avLst>
          </a:prstGeom>
          <a:solidFill>
            <a:srgbClr val="FCEFD0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프리젠테이션 3 Light" pitchFamily="2" charset="-127"/>
                <a:ea typeface="프리젠테이션 3 Light" pitchFamily="2" charset="-127"/>
              </a:rPr>
              <a:t>PDF_3.pdf</a:t>
            </a:r>
            <a:endParaRPr lang="ko-KR" altLang="en-US" dirty="0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D148B7-3199-A6B9-507B-8FDB0232238E}"/>
              </a:ext>
            </a:extLst>
          </p:cNvPr>
          <p:cNvSpPr txBox="1"/>
          <p:nvPr/>
        </p:nvSpPr>
        <p:spPr>
          <a:xfrm>
            <a:off x="10751245" y="1794301"/>
            <a:ext cx="1090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>
                <a:solidFill>
                  <a:sysClr val="windowText" lastClr="000000"/>
                </a:solidFill>
                <a:latin typeface="프리젠테이션 3 Light" pitchFamily="2" charset="-127"/>
                <a:ea typeface="프리젠테이션 3 Light" pitchFamily="2" charset="-127"/>
              </a:rPr>
              <a:t>16 comments</a:t>
            </a:r>
            <a:endParaRPr lang="ko-KR" altLang="en-US" sz="1200" dirty="0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93533B2-11E6-7212-6A7C-74CC034E4E37}"/>
              </a:ext>
            </a:extLst>
          </p:cNvPr>
          <p:cNvSpPr/>
          <p:nvPr/>
        </p:nvSpPr>
        <p:spPr>
          <a:xfrm>
            <a:off x="2663371" y="2300514"/>
            <a:ext cx="4688115" cy="39043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9302274-C7A7-C399-3E53-759113D7728D}"/>
              </a:ext>
            </a:extLst>
          </p:cNvPr>
          <p:cNvSpPr/>
          <p:nvPr/>
        </p:nvSpPr>
        <p:spPr>
          <a:xfrm>
            <a:off x="3744686" y="2656114"/>
            <a:ext cx="2510971" cy="3398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B8F4EA7-3DBC-76F9-1F5D-EEA58E9AA803}"/>
              </a:ext>
            </a:extLst>
          </p:cNvPr>
          <p:cNvSpPr/>
          <p:nvPr/>
        </p:nvSpPr>
        <p:spPr>
          <a:xfrm>
            <a:off x="2663371" y="2300515"/>
            <a:ext cx="4688115" cy="2522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&lt;&lt;   1/32   &gt;&gt;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CB3E285-73E2-74AD-430B-936F62F3D4AA}"/>
              </a:ext>
            </a:extLst>
          </p:cNvPr>
          <p:cNvSpPr/>
          <p:nvPr/>
        </p:nvSpPr>
        <p:spPr>
          <a:xfrm>
            <a:off x="7474857" y="2236149"/>
            <a:ext cx="4253696" cy="833622"/>
          </a:xfrm>
          <a:prstGeom prst="roundRect">
            <a:avLst>
              <a:gd name="adj" fmla="val 6953"/>
            </a:avLst>
          </a:prstGeom>
          <a:solidFill>
            <a:srgbClr val="FDF9E9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Page 4, line 15</a:t>
            </a:r>
            <a:endParaRPr lang="en-US" altLang="ko-KR" sz="10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3A3EFF1-87A0-0AB2-8A70-3D87DB8DC5FF}"/>
              </a:ext>
            </a:extLst>
          </p:cNvPr>
          <p:cNvSpPr/>
          <p:nvPr/>
        </p:nvSpPr>
        <p:spPr>
          <a:xfrm>
            <a:off x="11393714" y="5834743"/>
            <a:ext cx="370114" cy="370114"/>
          </a:xfrm>
          <a:prstGeom prst="ellipse">
            <a:avLst/>
          </a:prstGeom>
          <a:solidFill>
            <a:srgbClr val="FCEFD0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ko-KR" altLang="en-US">
              <a:solidFill>
                <a:sysClr val="windowText" lastClr="00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083B4E-CDED-7F41-24DB-DD4B1527D02D}"/>
              </a:ext>
            </a:extLst>
          </p:cNvPr>
          <p:cNvSpPr txBox="1"/>
          <p:nvPr/>
        </p:nvSpPr>
        <p:spPr>
          <a:xfrm>
            <a:off x="11360602" y="5739446"/>
            <a:ext cx="436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+</a:t>
            </a:r>
            <a:endParaRPr lang="ko-KR" altLang="en-US" sz="28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5BE5E91-2066-5F8A-95B3-64148E599BFC}"/>
              </a:ext>
            </a:extLst>
          </p:cNvPr>
          <p:cNvSpPr/>
          <p:nvPr/>
        </p:nvSpPr>
        <p:spPr>
          <a:xfrm>
            <a:off x="7474857" y="2468880"/>
            <a:ext cx="4253696" cy="600891"/>
          </a:xfrm>
          <a:prstGeom prst="roundRect">
            <a:avLst>
              <a:gd name="adj" fmla="val 9058"/>
            </a:avLst>
          </a:prstGeom>
          <a:solidFill>
            <a:schemeClr val="bg1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provides a framework to handle the latent stochasticity inherent in scheduling, facilitating robust representation and generalization </a:t>
            </a:r>
            <a:r>
              <a:rPr lang="en-US" altLang="ko-KR" sz="1000" dirty="0" err="1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acrossunseen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 production scenarios (zero-shot generalization capability)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452898E-B187-57D4-DB0C-A2DA114258CD}"/>
              </a:ext>
            </a:extLst>
          </p:cNvPr>
          <p:cNvSpPr/>
          <p:nvPr/>
        </p:nvSpPr>
        <p:spPr>
          <a:xfrm>
            <a:off x="7474857" y="3153508"/>
            <a:ext cx="4253696" cy="833622"/>
          </a:xfrm>
          <a:prstGeom prst="roundRect">
            <a:avLst>
              <a:gd name="adj" fmla="val 6953"/>
            </a:avLst>
          </a:prstGeom>
          <a:solidFill>
            <a:srgbClr val="FDF9E9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Page 6, line 4</a:t>
            </a:r>
            <a:endParaRPr lang="en-US" altLang="ko-KR" sz="10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7488F31-EB97-D64F-72C5-AF35A9F98D3D}"/>
              </a:ext>
            </a:extLst>
          </p:cNvPr>
          <p:cNvSpPr/>
          <p:nvPr/>
        </p:nvSpPr>
        <p:spPr>
          <a:xfrm>
            <a:off x="7474857" y="3386239"/>
            <a:ext cx="4253696" cy="780533"/>
          </a:xfrm>
          <a:prstGeom prst="roundRect">
            <a:avLst>
              <a:gd name="adj" fmla="val 9058"/>
            </a:avLst>
          </a:prstGeom>
          <a:solidFill>
            <a:schemeClr val="bg1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𝑃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𝑧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|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𝐺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 : The probability of generating the latent representation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𝑧 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given that the model has observed the instance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𝐺 모델이 𝐺 를 마주했는데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그로부터 하필 𝑧 를 추출할 확률 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𝐺 로부터 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을 뽑아낼 수도 있고 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0.1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을 뽑아낼 수도 있는 건데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하필 𝑧 라는 값을 뽑을 확률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3CB59A6-38AF-EEC8-9FB3-23A342F0EEAF}"/>
              </a:ext>
            </a:extLst>
          </p:cNvPr>
          <p:cNvSpPr/>
          <p:nvPr/>
        </p:nvSpPr>
        <p:spPr>
          <a:xfrm>
            <a:off x="7474857" y="4242363"/>
            <a:ext cx="4253696" cy="833622"/>
          </a:xfrm>
          <a:prstGeom prst="roundRect">
            <a:avLst>
              <a:gd name="adj" fmla="val 6953"/>
            </a:avLst>
          </a:prstGeom>
          <a:solidFill>
            <a:srgbClr val="FDF9E9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Page 12, line 1</a:t>
            </a:r>
            <a:endParaRPr lang="en-US" altLang="ko-KR" sz="10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3BEB27D-38E3-E944-3108-EE0A4802C152}"/>
              </a:ext>
            </a:extLst>
          </p:cNvPr>
          <p:cNvSpPr/>
          <p:nvPr/>
        </p:nvSpPr>
        <p:spPr>
          <a:xfrm>
            <a:off x="7474857" y="4475094"/>
            <a:ext cx="4253696" cy="1224505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rgbClr val="FFDF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𝑃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𝐺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|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𝑧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 : The probability that the latent representation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𝑧 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originated from the instance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𝐺 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모델이 𝑧라는 잠재 벡터를 가지고 있는데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하필 이것이 𝐺 를 보고 만들어낸 잠재 벡터였을 확률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내가 가지고 있는 𝑧 가 𝐺 가 아닌 𝐺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′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나 𝐺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′′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에서 온 것이었을 수도 있는데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그렇지 않고 𝐺 에서 온 것이었을 확률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→how likely it is that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𝑧 </a:t>
            </a:r>
            <a:r>
              <a:rPr lang="en-US" altLang="ko-KR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corresponds to the underlying structure of 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𝐺</a:t>
            </a:r>
          </a:p>
          <a:p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→ 즉 𝑧 가 얼마나 𝐺 </a:t>
            </a:r>
            <a:r>
              <a:rPr lang="ko-KR" altLang="en-US" sz="1000" dirty="0" err="1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를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반영하느냐를</a:t>
            </a:r>
            <a:r>
              <a:rPr lang="ko-KR" altLang="en-US" sz="10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 의미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E7838CCD-8128-2EE7-F867-BC03E517739B}"/>
              </a:ext>
            </a:extLst>
          </p:cNvPr>
          <p:cNvCxnSpPr/>
          <p:nvPr/>
        </p:nvCxnSpPr>
        <p:spPr>
          <a:xfrm>
            <a:off x="0" y="1353874"/>
            <a:ext cx="17331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50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303</Words>
  <Application>Microsoft Office PowerPoint</Application>
  <PresentationFormat>와이드스크린</PresentationFormat>
  <Paragraphs>61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Arial</vt:lpstr>
      <vt:lpstr>맑은 고딕</vt:lpstr>
      <vt:lpstr>프리젠테이션 3 Light</vt:lpstr>
      <vt:lpstr>프리젠테이션 7 Bold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Jiwon Baek</dc:creator>
  <cp:lastModifiedBy>Jiwon Baek</cp:lastModifiedBy>
  <cp:revision>1</cp:revision>
  <dcterms:created xsi:type="dcterms:W3CDTF">2026-04-24T02:03:49Z</dcterms:created>
  <dcterms:modified xsi:type="dcterms:W3CDTF">2026-04-24T02:21:21Z</dcterms:modified>
</cp:coreProperties>
</file>